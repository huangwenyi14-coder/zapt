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80000"/>
            <a:ext cx="12192119" cy="37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800000"/>
            <a:ext cx="11016000" cy="79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400" b="1">
                <a:solidFill>
                  <a:srgbClr val="1F2937"/>
                </a:solidFill>
                <a:latin typeface="Microsoft YaHei"/>
              </a:rPr>
              <a:t>EvidenceForge 数据质量判分体系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736000"/>
            <a:ext cx="1101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icrosoft YaHei"/>
              </a:rPr>
              <a:t>四个维度 · 二十项判分依据 · 双档阈值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3420000"/>
            <a:ext cx="11016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0B5CAB"/>
                </a:solidFill>
                <a:latin typeface="Microsoft YaHei"/>
              </a:rPr>
              <a:t>聚焦两件事:打分的维度、每个维度按什么判分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2059" y="4320000"/>
            <a:ext cx="2340000" cy="864000"/>
          </a:xfrm>
          <a:prstGeom prst="rect">
            <a:avLst/>
          </a:prstGeom>
          <a:solidFill>
            <a:srgbClr val="F5F7FA"/>
          </a:solidFill>
          <a:ln w="6350">
            <a:solidFill>
              <a:srgbClr val="0B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059" y="4374000"/>
            <a:ext cx="234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0B5CAB"/>
                </a:solidFill>
                <a:latin typeface="Microsoft YaHei"/>
              </a:rPr>
              <a:t>Parseability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059" y="4734000"/>
            <a:ext cx="234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权重 30%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48059" y="4320000"/>
            <a:ext cx="2340000" cy="864000"/>
          </a:xfrm>
          <a:prstGeom prst="rect">
            <a:avLst/>
          </a:prstGeom>
          <a:solidFill>
            <a:srgbClr val="F5F7FA"/>
          </a:solidFill>
          <a:ln w="6350">
            <a:solidFill>
              <a:srgbClr val="0B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059" y="4374000"/>
            <a:ext cx="234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0B5CAB"/>
                </a:solidFill>
                <a:latin typeface="Microsoft YaHei"/>
              </a:rPr>
              <a:t>Plausibility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059" y="4734000"/>
            <a:ext cx="234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权重 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4320000"/>
            <a:ext cx="2340000" cy="864000"/>
          </a:xfrm>
          <a:prstGeom prst="rect">
            <a:avLst/>
          </a:prstGeom>
          <a:solidFill>
            <a:srgbClr val="F5F7FA"/>
          </a:solidFill>
          <a:ln w="6350">
            <a:solidFill>
              <a:srgbClr val="0B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4059" y="4374000"/>
            <a:ext cx="234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0B5CAB"/>
                </a:solidFill>
                <a:latin typeface="Microsoft YaHei"/>
              </a:rPr>
              <a:t>Causality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4059" y="4734000"/>
            <a:ext cx="234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权重 25%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60059" y="4320000"/>
            <a:ext cx="2340000" cy="864000"/>
          </a:xfrm>
          <a:prstGeom prst="rect">
            <a:avLst/>
          </a:prstGeom>
          <a:solidFill>
            <a:srgbClr val="F5F7FA"/>
          </a:solidFill>
          <a:ln w="6350">
            <a:solidFill>
              <a:srgbClr val="0B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60059" y="4374000"/>
            <a:ext cx="234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0B5CAB"/>
                </a:solidFill>
                <a:latin typeface="Microsoft YaHei"/>
              </a:rPr>
              <a:t>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0059" y="4734000"/>
            <a:ext cx="234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权重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6552000"/>
            <a:ext cx="11016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EvidenceForge 数据质量判分  ·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88000"/>
            <a:ext cx="11016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Microsoft YaHei"/>
              </a:rPr>
              <a:t>一页总览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评估体系 = 4 维度(支柱)× 双档阈值(hard gate + aspirational)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900000"/>
            <a:ext cx="360000" cy="342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000" y="900000"/>
            <a:ext cx="25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936000" y="900000"/>
            <a:ext cx="1440000" cy="342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000" y="900000"/>
            <a:ext cx="133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6000" y="900000"/>
            <a:ext cx="792000" cy="342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0000" y="900000"/>
            <a:ext cx="684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权重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8000" y="900000"/>
            <a:ext cx="4536000" cy="342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2000" y="900000"/>
            <a:ext cx="4428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答的问题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04000" y="900000"/>
            <a:ext cx="3888000" cy="342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8000" y="900000"/>
            <a:ext cx="37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硬门槛(必过)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1242000"/>
            <a:ext cx="36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00" y="1242000"/>
            <a:ext cx="2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000" y="1242000"/>
            <a:ext cx="144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000" y="1242000"/>
            <a:ext cx="133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Microsoft YaHei"/>
              </a:rPr>
              <a:t>Parseability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6000" y="1242000"/>
            <a:ext cx="792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30000" y="1242000"/>
            <a:ext cx="68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8000" y="1242000"/>
            <a:ext cx="4536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2000" y="1242000"/>
            <a:ext cx="442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SIEM parser 吃不吃得下这行?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04000" y="1242000"/>
            <a:ext cx="3888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8000" y="1242000"/>
            <a:ext cx="378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C9374D"/>
                </a:solidFill>
                <a:latin typeface="Microsoft YaHei"/>
              </a:rPr>
              <a:t>spec_conformance ≥ 95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" y="1602000"/>
            <a:ext cx="360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00" y="1602000"/>
            <a:ext cx="2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6000" y="1602000"/>
            <a:ext cx="1440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000" y="1602000"/>
            <a:ext cx="133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Microsoft YaHei"/>
              </a:rPr>
              <a:t>Plausibility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6000" y="1602000"/>
            <a:ext cx="792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30000" y="1602000"/>
            <a:ext cx="68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25%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0" y="1602000"/>
            <a:ext cx="4536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2000" y="1602000"/>
            <a:ext cx="442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字段值 / 组合 / 分布像不像真东西?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04000" y="1602000"/>
            <a:ext cx="3888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58000" y="1602000"/>
            <a:ext cx="378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C9374D"/>
                </a:solidFill>
                <a:latin typeface="Microsoft YaHei"/>
              </a:rPr>
              <a:t>value_plausibility ≥ 95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00" y="1962000"/>
            <a:ext cx="36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00" y="1962000"/>
            <a:ext cx="2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6000" y="1962000"/>
            <a:ext cx="144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0000" y="1962000"/>
            <a:ext cx="133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Microsoft YaHei"/>
              </a:rPr>
              <a:t>Causality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6000" y="1962000"/>
            <a:ext cx="792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30000" y="1962000"/>
            <a:ext cx="68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25%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0" y="1962000"/>
            <a:ext cx="4536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22000" y="1962000"/>
            <a:ext cx="442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攻击剧情在数据里顺序对、来源对、IOA 对吗?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04000" y="1962000"/>
            <a:ext cx="3888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58000" y="1962000"/>
            <a:ext cx="378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C9374D"/>
                </a:solidFill>
                <a:latin typeface="Microsoft YaHei"/>
              </a:rPr>
              <a:t>causal_ordering ≥ 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00" y="2322000"/>
            <a:ext cx="360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00" y="2322000"/>
            <a:ext cx="2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6000" y="2322000"/>
            <a:ext cx="1440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0000" y="2322000"/>
            <a:ext cx="133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Microsoft YaHei"/>
              </a:rPr>
              <a:t>Timing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6000" y="2322000"/>
            <a:ext cx="792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30000" y="2322000"/>
            <a:ext cx="684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20%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0" y="2322000"/>
            <a:ext cx="4536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22000" y="2322000"/>
            <a:ext cx="442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人 / 系统 / 攻击链的节奏合理吗?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04000" y="2322000"/>
            <a:ext cx="3888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58000" y="2322000"/>
            <a:ext cx="378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Microsoft YaHei"/>
              </a:rPr>
              <a:t>(无硬门,纯拉分)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00" y="2915999"/>
            <a:ext cx="11016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Overall = </a:t>
            </a:r>
            <a:r>
              <a:rPr sz="1400" b="0">
                <a:solidFill>
                  <a:srgbClr val="0B5CAB"/>
                </a:solidFill>
                <a:latin typeface="Microsoft YaHei"/>
              </a:rPr>
              <a:t>Σ(pillar_score × pillar_weight)</a:t>
            </a:r>
            <a:r>
              <a:rPr sz="1400" b="0">
                <a:solidFill>
                  <a:srgbClr val="1F2937"/>
                </a:solidFill>
                <a:latin typeface="Microsoft YaHei"/>
              </a:rPr>
              <a:t>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00" y="3168000"/>
            <a:ext cx="11016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• Overall ≥ 70 视为可用,</a:t>
            </a:r>
            <a:r>
              <a:rPr sz="1300" b="1">
                <a:solidFill>
                  <a:srgbClr val="059669"/>
                </a:solidFill>
                <a:latin typeface="Microsoft YaHei"/>
              </a:rPr>
              <a:t>≥ 85 为优秀。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00" y="3402000"/>
            <a:ext cx="11016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• 任何 hard gate 不过 → </a:t>
            </a:r>
            <a:r>
              <a:rPr sz="1300" b="1">
                <a:solidFill>
                  <a:srgbClr val="C9374D"/>
                </a:solidFill>
                <a:latin typeface="Microsoft YaHei"/>
              </a:rPr>
              <a:t>acceptance_passed = False</a:t>
            </a:r>
            <a:r>
              <a:rPr sz="1300" b="0">
                <a:solidFill>
                  <a:srgbClr val="1F2937"/>
                </a:solidFill>
                <a:latin typeface="Microsoft YaHei"/>
              </a:rPr>
              <a:t>,数据集拒收。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00" y="6552000"/>
            <a:ext cx="11016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EvidenceForge 数据质量判分  ·  维度与判分依据  ·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88000"/>
            <a:ext cx="11016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Microsoft YaHei"/>
              </a:rPr>
              <a:t>Pillar 1: Parseability  (权重 30%)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判分依据:用真实下游 parser 的口径跑 strict 模式验证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900000"/>
            <a:ext cx="1800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000" y="900000"/>
            <a:ext cx="1692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Sub-score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6000" y="900000"/>
            <a:ext cx="648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0000" y="900000"/>
            <a:ext cx="540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权重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4000" y="900000"/>
            <a:ext cx="5112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8000" y="900000"/>
            <a:ext cx="500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判分依据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6000" y="900000"/>
            <a:ext cx="3456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0000" y="900000"/>
            <a:ext cx="334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评分公式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12060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" y="12060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spec_conformance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06000"/>
            <a:ext cx="6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0000" y="12060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4000" y="1206000"/>
            <a:ext cx="51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8000" y="12060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记录能否被 strict parser 解析 + 必填字段齐备 + 字段类型正确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6000" y="1206000"/>
            <a:ext cx="34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0000" y="12060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通过 / 总数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" y="1486800"/>
            <a:ext cx="1800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00" y="14868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format_constraints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6000" y="1486800"/>
            <a:ext cx="648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0000" y="14868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24000" y="1486800"/>
            <a:ext cx="5112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78000" y="14868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enum / 范围 / regex / coerce 约束是否被违反(可 parse 但破 schema)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6000" y="1486800"/>
            <a:ext cx="3456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0000" y="14868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通过 / 总数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" y="1803599"/>
            <a:ext cx="11016000" cy="93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00" y="1839599"/>
            <a:ext cx="10872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Microsoft YaHei"/>
              </a:rPr>
              <a:t>关键判据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2055598"/>
            <a:ext cx="1080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• Windows 事件用 EventID → variant 映射选变体后再校验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00" y="2271598"/>
            <a:ext cx="1080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• STRICT_FORMATS(syslog、zeek_*)再走一次字节级 validate_strict()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2487598"/>
            <a:ext cx="1080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• 错误归类为 parse_error / missing_field / strict_validation / constraint_violation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00" y="6552000"/>
            <a:ext cx="11016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EvidenceForge 数据质量判分  ·  维度与判分依据  ·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88000"/>
            <a:ext cx="11016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Microsoft YaHei"/>
              </a:rPr>
              <a:t>Pillar 2: Plausibility  (权重 25%)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判分依据:逐条看值、组合、分布、跨源是否合理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900000"/>
            <a:ext cx="1800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000" y="900000"/>
            <a:ext cx="1692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Sub-score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6000" y="900000"/>
            <a:ext cx="648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0000" y="900000"/>
            <a:ext cx="540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权重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4000" y="900000"/>
            <a:ext cx="5112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8000" y="900000"/>
            <a:ext cx="500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判分依据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6000" y="900000"/>
            <a:ext cx="3456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0000" y="900000"/>
            <a:ext cx="334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评分公式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12060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" y="12060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value_plausibility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06000"/>
            <a:ext cx="6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0000" y="12060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4000" y="1206000"/>
            <a:ext cx="51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8000" y="12060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OS 不窜台(Linux 上没 C:\Windows)+ 主机名在 scenario 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6000" y="1206000"/>
            <a:ext cx="34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0000" y="12060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通过 / 总数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" y="1486800"/>
            <a:ext cx="1800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00" y="14868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co_occurrence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6000" y="1486800"/>
            <a:ext cx="648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0000" y="14868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24000" y="1486800"/>
            <a:ext cx="5112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78000" y="14868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字段必现/互斥/范围规则(co_occurrence.yaml)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6000" y="1486800"/>
            <a:ext cx="3456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0000" y="14868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通过 / 适用条数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" y="17676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00" y="17676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distribution_fit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6000" y="1767600"/>
            <a:ext cx="6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30000" y="17676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24000" y="1767600"/>
            <a:ext cx="51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78000" y="17676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字段值分布 vs distributions.yaml 参考分布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6000" y="1767600"/>
            <a:ext cx="34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0000" y="17676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JSD→100 / 2×tolerance→0,中间线性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00" y="2048400"/>
            <a:ext cx="1800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00" y="20484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field_agreement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6000" y="2048400"/>
            <a:ext cx="648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30000" y="20484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24000" y="2048400"/>
            <a:ext cx="5112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78000" y="20484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跨源 pivot join 后字段值一致(cross_source_pairs.yaml)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6000" y="2048400"/>
            <a:ext cx="3456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0000" y="20484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一致对 / 匹配对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00" y="2329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00" y="23292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user_diversity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6000" y="2329200"/>
            <a:ext cx="6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30000" y="23292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24000" y="2329200"/>
            <a:ext cx="51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78000" y="23292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不同 user 事件类型分布两两余弦相似度低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6000" y="2329200"/>
            <a:ext cx="34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0000" y="23292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sim≤0.5→100;sim≥0.9→0;中间线性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00" y="2610000"/>
            <a:ext cx="1800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000" y="26100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anomaly_rate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6000" y="2610000"/>
            <a:ext cx="648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30000" y="26100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24000" y="2610000"/>
            <a:ext cx="5112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78000" y="26100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异常但良性的事件占 1–5% 是金标准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6000" y="2610000"/>
            <a:ext cx="3456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90000" y="26100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0%→0;1–5%→100;&gt;10%→0;中间带衰减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00" y="2926800"/>
            <a:ext cx="11016000" cy="93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000" y="2962800"/>
            <a:ext cx="10872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Microsoft YaHei"/>
              </a:rPr>
              <a:t>关键判据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000" y="3178799"/>
            <a:ext cx="1080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• co_occurrence:checks 支持 present / not_equal / equals / min_length / min_value / max_value / in / matches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000" y="3394799"/>
            <a:ext cx="1080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• field_agreement:支持 lower / path_basename_ci / cn_from_dn 归一化、tolerance 数值容差、time_window_seconds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00" y="6552000"/>
            <a:ext cx="11016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EvidenceForge 数据质量判分  ·  维度与判分依据  ·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88000"/>
            <a:ext cx="11016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Microsoft YaHei"/>
              </a:rPr>
              <a:t>Pillar 3: Causality  (权重 25%)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判分依据:验证攻击剧情在数据里该有的痕迹都到位、IOA 对得上、前后顺序不乱、相邻步骤能 pivot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900000"/>
            <a:ext cx="1800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000" y="900000"/>
            <a:ext cx="1692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Sub-score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6000" y="900000"/>
            <a:ext cx="648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0000" y="900000"/>
            <a:ext cx="540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权重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4000" y="900000"/>
            <a:ext cx="5112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8000" y="900000"/>
            <a:ext cx="500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判分依据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6000" y="900000"/>
            <a:ext cx="3456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0000" y="900000"/>
            <a:ext cx="334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评分公式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12060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" y="12060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causal_ordering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06000"/>
            <a:ext cx="6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0000" y="12060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4000" y="1206000"/>
            <a:ext cx="51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8000" y="12060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已知前后事件对顺序正确(causal_pairs.yaml)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6000" y="1206000"/>
            <a:ext cx="34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0000" y="12060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正确对 / 总对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" y="1486800"/>
            <a:ext cx="1800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00" y="14868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event_presence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6000" y="1486800"/>
            <a:ext cx="648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0000" y="14868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24000" y="1486800"/>
            <a:ext cx="5112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78000" y="14868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每条剧情事件在 sensor 视野内留了至少 1 条 trace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6000" y="1486800"/>
            <a:ext cx="3456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0000" y="14868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找到 / 应见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" y="17676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00" y="17676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indicator_accuracy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6000" y="1767600"/>
            <a:ext cx="6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30000" y="17676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24000" y="1767600"/>
            <a:ext cx="51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78000" y="17676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找到的 trace 中 actor/hostname/IP 与剧本一致(IPv4-mapped 兼容)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6000" y="1767600"/>
            <a:ext cx="34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0000" y="17676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正确项 / 检查项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00" y="2048400"/>
            <a:ext cx="1800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00" y="20484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pivot_linkability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6000" y="2048400"/>
            <a:ext cx="648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30000" y="20484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24000" y="2048400"/>
            <a:ext cx="5112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78000" y="20484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相邻剧情事件之间有可 pivot 的公共指示(actor、system、IP、trace 字段)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6000" y="2048400"/>
            <a:ext cx="3456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0000" y="20484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可 pivot 对 / 邻接对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00" y="2329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00" y="23292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temporal_integrity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6000" y="2329200"/>
            <a:ext cx="6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30000" y="23292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24000" y="2329200"/>
            <a:ext cx="51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78000" y="23292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trace 时间与剧情时间在 ±TIME_TOLERANCE 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6000" y="2329200"/>
            <a:ext cx="34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0000" y="23292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合规 / 应见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00" y="2610000"/>
            <a:ext cx="1800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000" y="26100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storyline_trace_coverage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6000" y="2610000"/>
            <a:ext cx="648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30000" y="26100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24000" y="2610000"/>
            <a:ext cx="5112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78000" y="26100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剧情在所有期望 format-group 都落有 trace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6000" y="2610000"/>
            <a:ext cx="3456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90000" y="26100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覆盖组 / 期望组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00" y="2926800"/>
            <a:ext cx="11016000" cy="93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000" y="2962800"/>
            <a:ext cx="10872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Microsoft YaHei"/>
              </a:rPr>
              <a:t>关键判据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000" y="3178799"/>
            <a:ext cx="1080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• trace 搜索:(hostname 或 IP, 60s 时间桶) 建索引,FQDN 额外存 bare-hostname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000" y="3394799"/>
            <a:ext cx="1080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• observation-profile 调整:非 complete 的源按 manifest 排除不可见事件,但不豁免 hard correctness 错误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000" y="3610799"/>
            <a:ext cx="1080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• spillage / adversarial_payload:从 GROUND_TRUTH.json 读实际渲染字符串,在原文(支持 CRLF 切分)里搜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00" y="6552000"/>
            <a:ext cx="11016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EvidenceForge 数据质量判分  ·  维度与判分依据  ·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88000"/>
            <a:ext cx="11016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Microsoft YaHei"/>
              </a:rPr>
              <a:t>Pillar 4: Timing  (权重 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判分依据:节奏对得上真实环境 — 人不是等距发指令、系统不是等距跑 cron、攻击链不会瞬间完成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900000"/>
            <a:ext cx="1800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000" y="900000"/>
            <a:ext cx="1692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Sub-score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6000" y="900000"/>
            <a:ext cx="648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0000" y="900000"/>
            <a:ext cx="540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权重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4000" y="900000"/>
            <a:ext cx="5112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8000" y="900000"/>
            <a:ext cx="5004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判分依据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6000" y="900000"/>
            <a:ext cx="3456000" cy="306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0000" y="900000"/>
            <a:ext cx="334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评分公式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12060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" y="12060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attack_chain_timing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06000"/>
            <a:ext cx="6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0000" y="12060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4000" y="1206000"/>
            <a:ext cx="51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8000" y="12060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相邻剧情事件间隔在 timing_bounds.yaml 的 min/max 窗口内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6000" y="1206000"/>
            <a:ext cx="34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0000" y="12060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窗口内对 / 总对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" y="1486800"/>
            <a:ext cx="1800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00" y="14868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burstiness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6000" y="1486800"/>
            <a:ext cx="648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0000" y="14868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24000" y="1486800"/>
            <a:ext cx="5112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78000" y="14868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人 inter-event 时间呈突发性(剔 system account,5s 去重,算 CV)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6000" y="1486800"/>
            <a:ext cx="3456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0000" y="14868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CV∈[1,3]→100;CV&lt;0.5→0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" y="17676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00" y="17676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system_regularity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6000" y="1767600"/>
            <a:ext cx="6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30000" y="17676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24000" y="1767600"/>
            <a:ext cx="51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78000" y="17676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同(host, service)的服务类事件呈周期性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6000" y="1767600"/>
            <a:ext cx="34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0000" y="17676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CV∈[0.15,1.0]→100;CV&gt;2→0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00" y="2048400"/>
            <a:ext cx="1800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00" y="20484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diurnal_pattern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6000" y="2048400"/>
            <a:ext cx="648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30000" y="20484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24000" y="2048400"/>
            <a:ext cx="5112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78000" y="20484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用户活动按 persona work_hours 聚集、跨工作日(7×24 二维直方图)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6000" y="2048400"/>
            <a:ext cx="3456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0000" y="20484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JSD&lt;0.01→0;JSD≥0.4→0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00" y="2329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00" y="23292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volume_adequacy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6000" y="2329200"/>
            <a:ext cx="6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30000" y="23292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24000" y="2329200"/>
            <a:ext cx="51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78000" y="23292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背景噪声与攻击信号比例达标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6000" y="2329200"/>
            <a:ext cx="34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0000" y="23292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ratio≥target→100;≤target/2→0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00" y="2610000"/>
            <a:ext cx="1800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000" y="2610000"/>
            <a:ext cx="1692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rate_plausibility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6000" y="2610000"/>
            <a:ext cx="648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30000" y="2610000"/>
            <a:ext cx="540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0.10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24000" y="2610000"/>
            <a:ext cx="5112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78000" y="2610000"/>
            <a:ext cx="5004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物理上不可能的速率(5s 内 ≥ 21 条、&gt;10Gbps 连接)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6000" y="2610000"/>
            <a:ext cx="3456000" cy="2808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90000" y="2610000"/>
            <a:ext cx="3348000" cy="280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100 × 合规 / 检查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00" y="2926800"/>
            <a:ext cx="11016000" cy="93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000" y="2962800"/>
            <a:ext cx="10872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Microsoft YaHei"/>
              </a:rPr>
              <a:t>关键判据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000" y="3178799"/>
            <a:ext cx="1080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• 目标 noise:signal 比:low=200:1 / medium=2000:1 / high=5000:1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000" y="3394799"/>
            <a:ext cx="1080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• 短场景保护:diurnal_pattern 需 ≥ 24h + ≥ 2 weekday;burstiness 单用户 &lt; 30 条跳过;N/A 项自动从分母拿掉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00" y="6552000"/>
            <a:ext cx="11016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EvidenceForge 数据质量判分  ·  维度与判分依据  ·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88000"/>
            <a:ext cx="11016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Microsoft YaHei"/>
              </a:rPr>
              <a:t>总分计算 &amp; 两档阈值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6.1 / 6.2 / 6.3 — 把 14 个 sub-score 收成 1 个 overall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900000"/>
            <a:ext cx="11016000" cy="432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936000"/>
            <a:ext cx="144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0B5CAB"/>
                </a:solidFill>
                <a:latin typeface="Microsoft YaHei"/>
              </a:rPr>
              <a:t>6.1 Pillar 得分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000" y="936000"/>
            <a:ext cx="9216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pillar_score = Σ(sub_score_i × sub_score_weight_i)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403999"/>
            <a:ext cx="11016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439999"/>
            <a:ext cx="144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0B5CAB"/>
                </a:solidFill>
                <a:latin typeface="Microsoft YaHei"/>
              </a:rPr>
              <a:t>6.2 Overall 得分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1439999"/>
            <a:ext cx="921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YaHei"/>
              </a:rPr>
              <a:t>overall = Σ(pillar_score_i × pillar_weight_i)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6000" y="1655998"/>
            <a:ext cx="921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可用 pillar 不足时按剩余 pillar 重归一化(防单 pillar 异常把总分压成零)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2051999"/>
            <a:ext cx="11016000" cy="360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2087999"/>
            <a:ext cx="144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0B5CAB"/>
                </a:solidFill>
                <a:latin typeface="Microsoft YaHei"/>
              </a:rPr>
              <a:t>6.3 两档阈值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6000" y="2105999"/>
            <a:ext cx="468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C9374D"/>
                </a:solidFill>
                <a:latin typeface="Microsoft YaHei"/>
              </a:rPr>
              <a:t>minimum</a:t>
            </a:r>
            <a:r>
              <a:rPr sz="1200" b="0">
                <a:solidFill>
                  <a:srgbClr val="1F2937"/>
                </a:solidFill>
                <a:latin typeface="Microsoft YaHei"/>
              </a:rPr>
              <a:t> = hard gate — 不达 → 拒收   |   </a:t>
            </a:r>
            <a:r>
              <a:rPr sz="1300" b="1">
                <a:solidFill>
                  <a:srgbClr val="B8860B"/>
                </a:solidFill>
                <a:latin typeface="Microsoft YaHei"/>
              </a:rPr>
              <a:t>aspirational</a:t>
            </a:r>
            <a:r>
              <a:rPr sz="1200" b="0">
                <a:solidFill>
                  <a:srgbClr val="1F2937"/>
                </a:solidFill>
                <a:latin typeface="Microsoft YaHei"/>
              </a:rPr>
              <a:t> = 努力目标 — 仅展示达成率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2483999"/>
            <a:ext cx="1101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目前 4 条 hard 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2735998"/>
            <a:ext cx="2520000" cy="234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00" y="2735998"/>
            <a:ext cx="2412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96000" y="2735998"/>
            <a:ext cx="4320000" cy="234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0000" y="2735998"/>
            <a:ext cx="4212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Sub-score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16000" y="2735998"/>
            <a:ext cx="4176000" cy="234000"/>
          </a:xfrm>
          <a:prstGeom prst="rect">
            <a:avLst/>
          </a:prstGeom>
          <a:solidFill>
            <a:srgbClr val="0B5CA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000" y="2735998"/>
            <a:ext cx="4068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hard 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00" y="2969998"/>
            <a:ext cx="2520000" cy="22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00" y="2969998"/>
            <a:ext cx="2412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B5CAB"/>
                </a:solidFill>
                <a:latin typeface="Microsoft YaHei"/>
              </a:rPr>
              <a:t>Parseability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6000" y="2969998"/>
            <a:ext cx="4320000" cy="22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0000" y="2969998"/>
            <a:ext cx="4212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spec_conformance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16000" y="2969998"/>
            <a:ext cx="4176000" cy="22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0000" y="2969998"/>
            <a:ext cx="4068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374D"/>
                </a:solidFill>
                <a:latin typeface="Microsoft YaHei"/>
              </a:rPr>
              <a:t>≥ 95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" y="3193198"/>
            <a:ext cx="2520000" cy="22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00" y="3193198"/>
            <a:ext cx="2412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B5CAB"/>
                </a:solidFill>
                <a:latin typeface="Microsoft YaHei"/>
              </a:rPr>
              <a:t>Plausibility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6000" y="3193198"/>
            <a:ext cx="4320000" cy="22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0000" y="3193198"/>
            <a:ext cx="4212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value_plausibility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16000" y="3193198"/>
            <a:ext cx="4176000" cy="22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0000" y="3193198"/>
            <a:ext cx="4068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374D"/>
                </a:solidFill>
                <a:latin typeface="Microsoft YaHei"/>
              </a:rPr>
              <a:t>≥ 95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" y="3416398"/>
            <a:ext cx="2520000" cy="22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00" y="3416398"/>
            <a:ext cx="2412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B5CAB"/>
                </a:solidFill>
                <a:latin typeface="Microsoft YaHei"/>
              </a:rPr>
              <a:t>Causality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96000" y="3416398"/>
            <a:ext cx="4320000" cy="22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50000" y="3416398"/>
            <a:ext cx="4212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causal_ordering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16000" y="3416398"/>
            <a:ext cx="4176000" cy="22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0000" y="3416398"/>
            <a:ext cx="4068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374D"/>
                </a:solidFill>
                <a:latin typeface="Microsoft YaHei"/>
              </a:rPr>
              <a:t>≥ 90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00" y="3639598"/>
            <a:ext cx="2520000" cy="22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000" y="3639598"/>
            <a:ext cx="2412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B5CAB"/>
                </a:solidFill>
                <a:latin typeface="Microsoft YaHei"/>
              </a:rPr>
              <a:t>Causality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96000" y="3639598"/>
            <a:ext cx="4320000" cy="22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50000" y="3639598"/>
            <a:ext cx="4212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event_presence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16000" y="3639598"/>
            <a:ext cx="4176000" cy="22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0000" y="3639598"/>
            <a:ext cx="4068000" cy="223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374D"/>
                </a:solidFill>
                <a:latin typeface="Microsoft YaHei"/>
              </a:rPr>
              <a:t>≥ 85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00" y="6552000"/>
            <a:ext cx="11016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EvidenceForge 数据质量判分  ·  维度与判分依据  ·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88000"/>
            <a:ext cx="11016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Microsoft YaHei"/>
              </a:rPr>
              <a:t>速查卡:4 维度 × 14 子分 × 判分依据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整套判分规则就是这些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900000"/>
            <a:ext cx="5400000" cy="324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900000"/>
            <a:ext cx="525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Pillar 1  Parseability (30%)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24000"/>
            <a:ext cx="5400000" cy="21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224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spec_conformance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000" y="1224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8000" y="1224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strict parse + 必填 + 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1440000"/>
            <a:ext cx="54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1440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format_constraints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000" y="1440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8000" y="1440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enum/range/regex/coerce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2000" y="900000"/>
            <a:ext cx="5400000" cy="324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4000" y="900000"/>
            <a:ext cx="525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Pillar 2  Plausibility (25%)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2000" y="1224000"/>
            <a:ext cx="5400000" cy="21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4000" y="1224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value_plausibility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000" y="1224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4000" y="1224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OS 不窜台、host 存在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2000" y="1440000"/>
            <a:ext cx="54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4000" y="1440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co_occurrence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4000" y="1440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000" y="1440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字段必现/互斥规则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2000" y="1656000"/>
            <a:ext cx="5400000" cy="21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4000" y="1656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distribution_fit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4000" y="1656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4000" y="1656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JSD vs 参考分布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2000" y="1872000"/>
            <a:ext cx="54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4000" y="187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field_agreement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4000" y="1872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4000" y="1872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跨源 pivot + 一致性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2000" y="2088000"/>
            <a:ext cx="5400000" cy="21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4000" y="2088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user_diversity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4000" y="2088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4000" y="2088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两两余弦相似度低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2000" y="2304000"/>
            <a:ext cx="54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4000" y="2304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anomaly_rate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4000" y="2304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4000" y="2304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1–5% 异常良性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00" y="3564000"/>
            <a:ext cx="5400000" cy="324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000" y="3564000"/>
            <a:ext cx="525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Pillar 3  Causality (25%)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00" y="3888000"/>
            <a:ext cx="5400000" cy="21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000" y="3888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causal_ordering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28000" y="3888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68000" y="3888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前后对顺序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00" y="4104000"/>
            <a:ext cx="54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000" y="4104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event_presence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28000" y="4104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68000" y="4104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应见就有 trace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00" y="4320000"/>
            <a:ext cx="5400000" cy="21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8000" y="4320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indicator_accuracy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28000" y="4320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68000" y="4320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IOA(IP/host/user)对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00" y="4536000"/>
            <a:ext cx="54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8000" y="4536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pivot_linkability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28000" y="4536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68000" y="4536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相邻步能 pivot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00" y="4752000"/>
            <a:ext cx="5400000" cy="21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000" y="475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temporal_integrity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28000" y="4752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68000" y="4752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时间窗内、有序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6000" y="4968000"/>
            <a:ext cx="54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8000" y="4968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storyline_trace_coverage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28000" y="4968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68000" y="4968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期望源都覆盖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92000" y="3564000"/>
            <a:ext cx="5400000" cy="3240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4000" y="3564000"/>
            <a:ext cx="525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Pillar 4  Timing (20%)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92000" y="3888000"/>
            <a:ext cx="5400000" cy="21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4000" y="3888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attack_chain_timing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44000" y="3888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84000" y="3888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剧情间隔在窗口内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92000" y="4104000"/>
            <a:ext cx="54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4000" y="4104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burstiness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44000" y="4104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84000" y="4104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人 CV 1–3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92000" y="4320000"/>
            <a:ext cx="5400000" cy="21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64000" y="4320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system_regularity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44000" y="4320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84000" y="4320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服务 CV 0.15–1.0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92000" y="4536000"/>
            <a:ext cx="54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4000" y="4536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diurnal_pattern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44000" y="4536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84000" y="4536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2D JSD vs persona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92000" y="4752000"/>
            <a:ext cx="5400000" cy="21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64000" y="4752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volume_adequacy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44000" y="4752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84000" y="4752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noise:signal 达标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92000" y="4968000"/>
            <a:ext cx="5400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64000" y="4968000"/>
            <a:ext cx="198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Microsoft YaHei"/>
              </a:rPr>
              <a:t>rate_plausibility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44000" y="4968000"/>
            <a:ext cx="54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0B5CAB"/>
                </a:solidFill>
                <a:latin typeface="Microsoft YaHei"/>
              </a:rPr>
              <a:t>0.10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84000" y="4968000"/>
            <a:ext cx="2736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物理速率合理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6000" y="6552000"/>
            <a:ext cx="11016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EvidenceForge 数据质量判分  ·  维度与判分依据  ·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